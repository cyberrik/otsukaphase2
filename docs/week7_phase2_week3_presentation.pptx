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914400"/>
            <a:ext cx="4023360" cy="5029200"/>
          </a:xfrm>
          <a:prstGeom prst="rect">
            <a:avLst/>
          </a:prstGeom>
          <a:solidFill>
            <a:srgbClr val="15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5EEAD4"/>
                </a:solidFill>
                <a:latin typeface="Segoe UI"/>
              </a:rPr>
              <a:t>OTSUKA SHOKAI  ·  AI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Senpai 開発進捗レポート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5EEAD4"/>
                </a:solidFill>
                <a:latin typeface="Segoe UI"/>
              </a:rPr>
              <a:t>Senpai — Weekly 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第7週 ・ フェーズ2 第3週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94A3B8"/>
                </a:solidFill>
                <a:latin typeface="Segoe UI"/>
              </a:rPr>
              <a:t>Week 7  ·  Phase 2, Week 3</a:t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5EEAD4"/>
                </a:solidFill>
                <a:latin typeface="Yu Gothic"/>
                <a:ea typeface="Yu Gothic"/>
                <a:cs typeface="Yu Gothic"/>
              </a:rPr>
              <a:t>2026年6月26日 〜 7月3日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94A3B8"/>
                </a:solidFill>
                <a:latin typeface="Segoe UI"/>
              </a:rPr>
              <a:t>June 26 – July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59E0B"/>
                </a:solidFill>
                <a:latin typeface="Segoe UI"/>
              </a:rPr>
              <a:t>43</a:t>
            </a:r>
          </a:p>
          <a:p>
            <a:r>
              <a:rPr sz="1050" b="0" i="0">
                <a:solidFill>
                  <a:srgbClr val="94A3B8"/>
                </a:solidFill>
                <a:latin typeface="Segoe UI"/>
              </a:rPr>
              <a:t>コミット /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59E0B"/>
                </a:solidFill>
                <a:latin typeface="Segoe UI"/>
              </a:rPr>
              <a:t>45</a:t>
            </a:r>
          </a:p>
          <a:p>
            <a:r>
              <a:rPr sz="1050" b="0" i="0">
                <a:solidFill>
                  <a:srgbClr val="94A3B8"/>
                </a:solidFill>
                <a:latin typeface="Segoe UI"/>
              </a:rPr>
              <a:t>新モジュール /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59E0B"/>
                </a:solidFill>
                <a:latin typeface="Segoe UI"/>
              </a:rPr>
              <a:t>+23K</a:t>
            </a:r>
          </a:p>
          <a:p>
            <a:r>
              <a:rPr sz="1050" b="0" i="0">
                <a:solidFill>
                  <a:srgbClr val="94A3B8"/>
                </a:solidFill>
                <a:latin typeface="Segoe UI"/>
              </a:rPr>
              <a:t>行 /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59E0B"/>
                </a:solidFill>
                <a:latin typeface="Segoe UI"/>
              </a:rPr>
              <a:t>13</a:t>
            </a:r>
          </a:p>
          <a:p>
            <a:r>
              <a:rPr sz="1050" b="0" i="0">
                <a:solidFill>
                  <a:srgbClr val="94A3B8"/>
                </a:solidFill>
                <a:latin typeface="Segoe UI"/>
              </a:rPr>
              <a:t>テスト / test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Segoe UI"/>
              </a:rPr>
              <a:t>対象: マネージャー / メンター / Givery チーム   ·   Audience: Managers · Mentors · Givery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エグゼクティブ・サマリー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From a product to a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先週は「試作品」を「製品」に。今週は「製品」を「プラットフォーム」に進化させました。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Segoe UI"/>
              </a:rPr>
              <a:t>Week 2 turned the prototype into a product. This week we turned the product into a platform — every ad-hoc “gather-then-answer” path was rebuilt on one reusable orchestration spine.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統合オーケストレーション・エンジン (M0→M6)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30" b="0" i="0">
                <a:solidFill>
                  <a:srgbClr val="6B7280"/>
                </a:solidFill>
                <a:latin typeface="Segoe UI"/>
              </a:rPr>
              <a:t>     Unified orchestration engine — one spine now powers Research, Crew, Account &amp; Chat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LLMプランナー: 目標 → 能力グラフ → 成果物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30" b="0" i="0">
                <a:solidFill>
                  <a:srgbClr val="6B7280"/>
                </a:solidFill>
                <a:latin typeface="Segoe UI"/>
              </a:rPr>
              <a:t>     LLMPlanner: goal → capability graph → artifact (document generation, no slash command)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ローカル・ワークスペース・エージェント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30" b="0" i="0">
                <a:solidFill>
                  <a:srgbClr val="6B7280"/>
                </a:solidFill>
                <a:latin typeface="Segoe UI"/>
              </a:rPr>
              <a:t>     Local Workspace Agent — search, read, write &amp; organize real local files (sandboxed)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セグメント・インテリジェンス (GraphRAG)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30" b="0" i="0">
                <a:solidFill>
                  <a:srgbClr val="6B7280"/>
                </a:solidFill>
                <a:latin typeface="Segoe UI"/>
              </a:rPr>
              <a:t>     Segment Intelligence — global aggregate sensemaking for managers, never invents a number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管理ポータル + Graph-RAG ライブ可視化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30" b="0" i="0">
                <a:solidFill>
                  <a:srgbClr val="6B7280"/>
                </a:solidFill>
                <a:latin typeface="Segoe UI"/>
              </a:rPr>
              <a:t>     Admin Portal + live Graph-RAG visualization — the stakeholder demo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製品基盤の強化 (認証・履歴・二重モデル)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30" b="0" i="0">
                <a:solidFill>
                  <a:srgbClr val="6B7280"/>
                </a:solidFill>
                <a:latin typeface="Segoe UI"/>
              </a:rPr>
              <a:t>     Product hardening — auth, chat history, dual-model failover, hardened tool-loop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GUIDING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貫いた設計原則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Held unchanged from Weeks 1–2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73152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02535"/>
            <a:ext cx="50292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決定論ファースト</a:t>
            </a:r>
          </a:p>
          <a:p>
            <a:pPr>
              <a:spcBef>
                <a:spcPts val="0"/>
              </a:spcBef>
            </a:pPr>
            <a:r>
              <a:rPr sz="950" b="1" i="0">
                <a:solidFill>
                  <a:srgbClr val="14B8A6"/>
                </a:solidFill>
                <a:latin typeface="Segoe UI"/>
              </a:rPr>
              <a:t>Deterministic first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全ての数値はPythonで算出。統計・ID解決・引用ファイアウォールは決定論的。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Every number is computed in pure Python — stats, ID resolution, citation firewall.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73152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02535"/>
            <a:ext cx="50292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モデルはIDや数値を創作しない</a:t>
            </a:r>
          </a:p>
          <a:p>
            <a:pPr>
              <a:spcBef>
                <a:spcPts val="0"/>
              </a:spcBef>
            </a:pPr>
            <a:r>
              <a:rPr sz="950" b="1" i="0">
                <a:solidFill>
                  <a:srgbClr val="14B8A6"/>
                </a:solidFill>
                <a:latin typeface="Segoe UI"/>
              </a:rPr>
              <a:t>The model never invents an ID or a number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プランナーは「能力」を選ぶだけ。統計に無い数値を含む文章は棄却。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The planner picks capabilities, not IDs; ungrounded numbers are rejected.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64992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73152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493008"/>
            <a:ext cx="50292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モデル無しでも正しく、有りでより良く</a:t>
            </a:r>
          </a:p>
          <a:p>
            <a:pPr>
              <a:spcBef>
                <a:spcPts val="0"/>
              </a:spcBef>
            </a:pPr>
            <a:r>
              <a:rPr sz="950" b="1" i="0">
                <a:solidFill>
                  <a:srgbClr val="14B8A6"/>
                </a:solidFill>
                <a:latin typeface="Segoe UI"/>
              </a:rPr>
              <a:t>Correct without the model, better with it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プランナー・セグメント・整理機能はGPU無し/モデル停止時も動作。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Deterministic fallbacks; runs GPU-free when the served model is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364992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364992"/>
            <a:ext cx="73152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493008"/>
            <a:ext cx="50292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根拠がある、さもなくば沈黙</a:t>
            </a:r>
          </a:p>
          <a:p>
            <a:pPr>
              <a:spcBef>
                <a:spcPts val="0"/>
              </a:spcBef>
            </a:pPr>
            <a:r>
              <a:rPr sz="950" b="1" i="0">
                <a:solidFill>
                  <a:srgbClr val="14B8A6"/>
                </a:solidFill>
                <a:latin typeface="Segoe UI"/>
              </a:rPr>
              <a:t>Grounded or silent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記憶は実在エンティティに紐づく「引用付き所見」のみを保存。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Memory persists only cited observations anchored to a real entity id.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55464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55464"/>
            <a:ext cx="73152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983480"/>
            <a:ext cx="50292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回帰ゼロの移行</a:t>
            </a:r>
          </a:p>
          <a:p>
            <a:pPr>
              <a:spcBef>
                <a:spcPts val="0"/>
              </a:spcBef>
            </a:pPr>
            <a:r>
              <a:rPr sz="950" b="1" i="0">
                <a:solidFill>
                  <a:srgbClr val="14B8A6"/>
                </a:solidFill>
                <a:latin typeface="Segoe UI"/>
              </a:rPr>
              <a:t>Zero-regression migration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各移行はパリティ試験で同一出力を証明してから旧経路を撤去。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Each migration was gated by a parity suite before the old path was retired.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1 · FLAGSHIP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オーケストレーション・エンジン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The reusable spine — write one class, register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965960" cy="868680"/>
          </a:xfrm>
          <a:prstGeom prst="roundRect">
            <a:avLst/>
          </a:prstGeom>
          <a:solidFill>
            <a:srgbClr val="15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Plan</a:t>
            </a:r>
          </a:p>
        </p:txBody>
      </p:sp>
      <p:sp>
        <p:nvSpPr>
          <p:cNvPr id="10" name="Chevron 9"/>
          <p:cNvSpPr/>
          <p:nvPr/>
        </p:nvSpPr>
        <p:spPr>
          <a:xfrm>
            <a:off x="2534600" y="2231136"/>
            <a:ext cx="252608" cy="201168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7208" y="1920240"/>
            <a:ext cx="1965960" cy="8686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Execution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12" name="Chevron 11"/>
          <p:cNvSpPr/>
          <p:nvPr/>
        </p:nvSpPr>
        <p:spPr>
          <a:xfrm>
            <a:off x="4793168" y="2231136"/>
            <a:ext cx="252608" cy="201168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65776" y="1920240"/>
            <a:ext cx="1965960" cy="868680"/>
          </a:xfrm>
          <a:prstGeom prst="roundRect">
            <a:avLst/>
          </a:prstGeom>
          <a:solidFill>
            <a:srgbClr val="15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Evidence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Bundle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51736" y="2231136"/>
            <a:ext cx="252608" cy="201168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24344" y="1920240"/>
            <a:ext cx="1965960" cy="8686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Reasoner</a:t>
            </a:r>
          </a:p>
        </p:txBody>
      </p:sp>
      <p:sp>
        <p:nvSpPr>
          <p:cNvPr id="16" name="Chevron 15"/>
          <p:cNvSpPr/>
          <p:nvPr/>
        </p:nvSpPr>
        <p:spPr>
          <a:xfrm>
            <a:off x="9310304" y="2231136"/>
            <a:ext cx="252608" cy="201168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82912" y="1920240"/>
            <a:ext cx="1965960" cy="868680"/>
          </a:xfrm>
          <a:prstGeom prst="roundRect">
            <a:avLst/>
          </a:prstGeom>
          <a:solidFill>
            <a:srgbClr val="15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077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1つの共通スパインが Research・Crew・Account・Chat の全てを駆動する。</a:t>
            </a:r>
          </a:p>
          <a:p>
            <a:r>
              <a:rPr sz="1030" b="0" i="0">
                <a:solidFill>
                  <a:srgbClr val="6B7280"/>
                </a:solidFill>
                <a:latin typeface="Segoe UI"/>
              </a:rPr>
              <a:t>One spine drives Research, Crew, Account and the Chat tool-loop — new capabilities become additive.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11064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実行時に拡張されるDAG (ctx.expand)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The DAG expands at runtime — N found files append N extract tasks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能力は単一領域を担当し、推論も他能力の呼び出しもしない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Capabilities own one domain — they never reason or call each other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エビデンスは不変・追記のみ・出所を常に保持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Evidence bundle is immutable, append-only, provenance always preserved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部分的失敗は劣化するがクラッシュしない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Partial failure degrades gracefully — the run always completes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1 ·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移行マイルストーン M0 – 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Parity-proven, zero-regression migration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642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97510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938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エンジン本体を単体構築・テスト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The engine itself — GPU-free, unit-tested in isolation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56946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2374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Research を移行 (84ケースのパリティ)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Research migrated — 84 parity cases, identical evidence bundles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39"/>
            <a:ext cx="110642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16382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1810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Crew + チーム展開を移行、並列化で高速化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Crew + team fan-out — tools now run in parallel (a latency win)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599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75818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1246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Account 収集を移行 (123ケース: 60社×日英)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Account gather — 123 cases (60 accounts × ja/en)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59"/>
            <a:ext cx="110642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35254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0682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Chat ループをエンジン統合 (AdaptiveScheduler)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Chat tool-loop on the engine — READ ops auto-batched in parallel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19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94690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90118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ワークスペース能力 = 初のシードDB外 + 実行時拡張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Workspace capability — first outside the seed DB, runtime expansion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40679"/>
            <a:ext cx="110642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41263"/>
            <a:ext cx="777240" cy="3657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5EEAD4"/>
                </a:solidFill>
                <a:latin typeface="Segoe UI"/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495543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LLMプランナー: 目標 → 能力グラフ → 成果物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919" b="0" i="0">
                <a:solidFill>
                  <a:srgbClr val="6B7280"/>
                </a:solidFill>
                <a:latin typeface="Segoe UI"/>
              </a:rPr>
              <a:t>LLMPlanner — goal → capability graph → artifact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全テスト: 219 → 282 → 405 件パス、新規回帰ゼロ。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Full suite after each milestone: 219 → 282 → 405 passing, zero new regressions.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2 · LLMPLANNER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LLMプランナー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Document generation as a capability 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「村田印刷の提案書を作って」— スラッシュコマンド不要。目標が能力グラフになる。</a:t>
            </a:r>
          </a:p>
          <a:p>
            <a:pPr>
              <a:spcBef>
                <a:spcPts val="200"/>
              </a:spcBef>
            </a:pPr>
            <a:r>
              <a:rPr sz="1030" b="0" i="0">
                <a:solidFill>
                  <a:srgbClr val="6B7280"/>
                </a:solidFill>
                <a:latin typeface="Segoe UI"/>
              </a:rPr>
              <a:t>Plain “make a proposal for Murata Printing” just works — the goal becomes an explicit capability graph.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モデルは「能力」を選ぶ、IDは決定論的コードが解決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The model picks capabilities; deterministic code resolves identity (never the wrong deal)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モデル停止時も正しい (heuristic_selection にフォールバック)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Correct without the model — heuristic fallback, proposal path fully GPU-free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通常チャットに統合、既存のUIイベントを再利用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Wired into normal chat — reuses the same plan/context/tool/document events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設計上ミニマル: 自律でも再帰でもない (1目標 → 1計画 → 1成果物)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Minimal by design — not autonomous, not recursive: one goal → one plan → one artifact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3 · LOCAL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ローカル・ワークスペース・エージェント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Senpai steps outside the seed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初めてユーザーの実ファイルを操作 — 検索・読取・ノート生成・整理 (全てサンドボックス内)。</a:t>
            </a:r>
          </a:p>
          <a:p>
            <a:pPr>
              <a:spcBef>
                <a:spcPts val="200"/>
              </a:spcBef>
            </a:pPr>
            <a:r>
              <a:rPr sz="1030" b="0" i="0">
                <a:solidFill>
                  <a:srgbClr val="6B7280"/>
                </a:solidFill>
                <a:latin typeface="Segoe UI"/>
              </a:rPr>
              <a:t>The first capability to act on the user’s real local files — all sandboxed to WORKSPACE_ROOT.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8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検索・読取: PDF / DOCX / PPTX / XLSX を関連度順に抽出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B7280"/>
                </a:solidFill>
                <a:latin typeface="Segoe UI"/>
              </a:rPr>
              <a:t>     Search &amp; read — relevance-ranked extraction across PDF/DOCX/PPTX/XLSX, cited as file://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8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ノート生成: 収集した根拠から Markdown ノートを作成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B7280"/>
                </a:solidFill>
                <a:latin typeface="Segoe UI"/>
              </a:rPr>
              <a:t>     Synthesize — authors a markdown note from the gathered grounding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8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整理: 散らばったファイルをトピック別フォルダへ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B7280"/>
                </a:solidFill>
                <a:latin typeface="Segoe UI"/>
              </a:rPr>
              <a:t>     Organize — tidies loose files into topic folders (quotes/proposals/…)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8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安全第一: サンドボックス脱出は禁止、削除操作は存在しない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B7280"/>
                </a:solidFill>
                <a:latin typeface="Segoe UI"/>
              </a:rPr>
              <a:t>     Safety first — sandbox escapes rejected, no delete op by design (unit-tested)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8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破壊的操作は2ターンのプレビュー確認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69" b="0" i="0">
                <a:solidFill>
                  <a:srgbClr val="6B7280"/>
                </a:solidFill>
                <a:latin typeface="Segoe UI"/>
              </a:rPr>
              <a:t>     Two-turn preview confirm — lists moves first, applies only on “go ahead / はい”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4 · GRAPHRAG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セグメント・インテリジェンス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GraphRAG community summarization for managers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「製造業のサーバー案件、なぜ負ける？」— マネージャーの全体・横断的な問いに答える。</a:t>
            </a:r>
          </a:p>
          <a:p>
            <a:pPr>
              <a:spcBef>
                <a:spcPts val="200"/>
              </a:spcBef>
            </a:pPr>
            <a:r>
              <a:rPr sz="1030" b="0" i="0">
                <a:solidFill>
                  <a:srgbClr val="6B7280"/>
                </a:solidFill>
                <a:latin typeface="Segoe UI"/>
              </a:rPr>
              <a:t>Answers the global, aggregate question a manager asks — which local retrieval could never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GraphRAGの高コストな抽出工程(step1)を省略 — 既に構造化グラフを保有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Skips GraphRAG’s expensive LLM extraction — we already have a clean typed graph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コミュニティ = 決定論的ファセット (製品分類 × 業種)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Communities are deterministic facets (category × industry) — no Leiden needed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決定論的な数値 + LLMの文章 + 検証された文章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Deterministic numbers, LLM prose, verified prose — a grounding gate rejects any invented figure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レポートは事前計算・コミット、実行時は「縮約」を無料で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Reports precomputed &amp; committed; the chat loop’s synthesis round does the “reduce” for free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構造上、存在しない数値を提示できない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Structurally cannot surface a hallucinated number (machine-checked grounding invariant)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5 ·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賢いツール呼び出しとループ防止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A ReAct loop that provably can’t spiral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finish センチネル: 収集後に即座にループを抜け、無駄なターンを節約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“finish” sentinel — breaks the loop instantly once evidence exists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反復防止キャップ: 非生産的なラウンドのみを数える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Anti-spiral cap — counts unproductive rounds only, never distinct-entity lookups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終端アクションの即時停止で成果物の重複を防止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Terminal-action hard stop — prevents duplicate documents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完全重複排除 + 境界を意識した切り詰め (数値や社名を割らない)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Exact dedup + boundary-aware truncation — never cuts a ¥ figure or company name in half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11064240" cy="12801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69494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複数エンティティ展開: 「D133, D012, D168 を比較」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5EEAD4"/>
                </a:solidFill>
                <a:latin typeface="Segoe UI"/>
              </a:rPr>
              <a:t>Multi-entity expander — 3 sequential rounds collapsed into 1 parallel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3492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Segoe UI"/>
              </a:rPr>
              <a:t>75秒 → 28秒</a:t>
            </a:r>
          </a:p>
          <a:p>
            <a:pPr algn="ctr"/>
            <a:r>
              <a:rPr sz="950" b="0" i="0">
                <a:solidFill>
                  <a:srgbClr val="94A3B8"/>
                </a:solidFill>
                <a:latin typeface="Segoe UI"/>
              </a:rPr>
              <a:t>measured latency, 3 deals fully gathered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6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文脈と記憶の管理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Grounding, focus, and cross-chat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「さっき話した会社の資料を作って」— 背景スレッドが会話を正しく共有する。</a:t>
            </a:r>
          </a:p>
          <a:p>
            <a:pPr>
              <a:spcBef>
                <a:spcPts val="200"/>
              </a:spcBef>
            </a:pPr>
            <a:r>
              <a:rPr sz="1030" b="0" i="0">
                <a:solidFill>
                  <a:srgbClr val="6B7280"/>
                </a:solidFill>
                <a:latin typeface="Segoe UI"/>
              </a:rPr>
              <a:t>Fixes the failure where a background thread can’t see the chat and hallucinates a generic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スレッド安全な会話グラウンディング (ContextVar で並列共有)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Thread-safe conversation grounding — ContextVar so concurrent users never cross-contaminate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再現性ではなく関連性で選択 (CJK bigram でスクリプト非依存)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Relevance not just recency — script-agnostic CJK bigrams (村田印刷 → 村田/田印/印刷)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SessionFocus: 実ツール結果の明確なIDに紐づく (曖昧名を排除)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SessionFocus — keyed off unambiguous IDs from tool results, never fuzzy names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チャット横断記憶: 会話履歴ではなく「引用付き所見」を保存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Cross-chat memory — persists cited Observations (not transcripts), anchored by entity + timestamp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7–8 · REASONING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二段階リーゾナー &amp; 二重モデル基盤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Citation firewall · failover · token accounting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440680" cy="56692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二段階リーゾナー</a:t>
            </a:r>
          </a:p>
          <a:p>
            <a:r>
              <a:rPr sz="950" b="0" i="0">
                <a:solidFill>
                  <a:srgbClr val="5EEAD4"/>
                </a:solidFill>
                <a:latin typeface="Segoe UI"/>
              </a:rPr>
              <a:t>Two-pass reasoner — citation firewall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97480"/>
            <a:ext cx="492861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解釈: エビデンスを「引用付き所見」に変換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Interpret — evidence becomes typed, cited observations (temp 0, JSON)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引用が根拠に遡れない所見は破棄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Any observation whose citations don’t trace to evidence is dropped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構成: 重要度ランク順に成果物を執筆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Compose — authors from ranked observations (materiality high/med/low)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失敗時は単発合成にフォールバック (回帰なし)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Falls back to single-shot synthesis — no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920240"/>
            <a:ext cx="54406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5440680" cy="56692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029968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ハイブリッド二重モデル</a:t>
            </a:r>
          </a:p>
          <a:p>
            <a:r>
              <a:rPr sz="950" b="0" i="0">
                <a:solidFill>
                  <a:srgbClr val="5EEAD4"/>
                </a:solidFill>
                <a:latin typeface="Segoe UI"/>
              </a:rPr>
              <a:t>Dual-model client — failover &amp;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697480"/>
            <a:ext cx="492861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高速合成 → 8B、熟考ナラティブ → 27B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FAST synthesis → 8B model; THINK-grade narrative → primary 27B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プライマリ障害時に自動フェイルオーバー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Automatic failover — retries on the fallback server, no crashed turn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トークン計上を1行JSONLで記録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Token accounting — one JSONL row per completion, shown on the admin Usage page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推定値は明示ラベル、推測を計測値として提示しない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     Estimates are clearly labelled — never presented as measured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9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管理ポータル + Graph-RAG ライブ可視化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Operations surface + the stakeholder “money demo”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運用の可視化と、Graph-RAG を従来検索と直接比較する説得力あるデモ。</a:t>
            </a:r>
          </a:p>
          <a:p>
            <a:pPr>
              <a:spcBef>
                <a:spcPts val="200"/>
              </a:spcBef>
            </a:pPr>
            <a:r>
              <a:rPr sz="1030" b="0" i="0">
                <a:solidFill>
                  <a:srgbClr val="6B7280"/>
                </a:solidFill>
                <a:latin typeface="Segoe UI"/>
              </a:rPr>
              <a:t>A first-class ops surface, plus a live force-graph that visually walks a Graph-RAG traversal.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組織管理・稼働状況・トークン利用の各画面 (/api/admin/*)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Org management, system status, token usage, rep reassignment endpoints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ネットワークグラフ: react-force-graph-2d でノード種別に色分け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Network graph — full NetworkX graph, colored by node kind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ライブ探索: SSEで探索経路を視覚的に「歩く」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Live traversal — SSE events visually walk the Graph-RAG path, dimming the rest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Versus スコアカード: Graph-RAG 対 従来ベクトル検索を直接比較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Versus scorecard — Graph-RAG vs traditional retrieval on latency, tokens,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59E0B"/>
                </a:solidFill>
                <a:latin typeface="Yu Gothic"/>
                <a:ea typeface="Yu Gothic"/>
                <a:cs typeface="Yu Gothic"/>
              </a:rPr>
              <a:t>★ 明日のデモの目玉 — Versus ページ。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The Versus page is the money demo for stakeholders.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10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製品基盤の強化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The plumbing a real deployment needs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 (サインアップ / ログイン) — アカウントをシード担当者に紐付け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Auth — signup/login maps accounts onto seed reps (junior→rep, manager→coach)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永続チャット履歴 (SQLite) + 履歴ドロワー + ライブ検索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Persistent chat history — SQLite store + History Drawer with live search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ジュニア・コマンドセンター: 6ページを1画面に統合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Junior Command Center — six pages collapsed into one split-pane home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マネージャー・コマンドセンター: チーム・トリアージのペイン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Manager Command Center — team-triage pane grounds the Copilot on click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リアルタイムTTS + 一元化された設定モジュール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Real-time TTS + central config module (env-based tunables, nothing hardcoded)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SECTION 11 ·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テストと品質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13 new suites · 30 total · zero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566160" cy="15544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  <a:latin typeface="Segoe UI"/>
              </a:rPr>
              <a:t>13</a:t>
            </a:r>
          </a:p>
          <a:p>
            <a:pPr algn="ctr">
              <a:spcBef>
                <a:spcPts val="200"/>
              </a:spcBef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今週の新規テストスイート</a:t>
            </a:r>
          </a:p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new test suites this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920240"/>
            <a:ext cx="3566160" cy="15544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  <a:latin typeface="Segoe UI"/>
              </a:rPr>
              <a:t>270+</a:t>
            </a:r>
          </a:p>
          <a:p>
            <a:pPr algn="ctr">
              <a:spcBef>
                <a:spcPts val="200"/>
              </a:spcBef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パリティ検証ケース</a:t>
            </a:r>
          </a:p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parity cases (research/crew/account)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920240"/>
            <a:ext cx="3566160" cy="15544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210312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  <a:latin typeface="Segoe UI"/>
              </a:rPr>
              <a:t>0</a:t>
            </a:r>
          </a:p>
          <a:p>
            <a:pPr algn="ctr">
              <a:spcBef>
                <a:spcPts val="200"/>
              </a:spcBef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新規回帰</a:t>
            </a:r>
          </a:p>
          <a:p>
            <a:pPr algn="ctr"/>
            <a:r>
              <a:rPr sz="880" b="0" i="0">
                <a:solidFill>
                  <a:srgbClr val="94A3B8"/>
                </a:solidFill>
                <a:latin typeface="Segoe UI"/>
              </a:rPr>
              <a:t>new regressions across migrations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11064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パリティ試験: エンジン移行が同一のエビデンスを生成することを証明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Parity suites — prove engine migrations produce byte-identical evidence bundles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プランナー / ワークスペース / コミュニティの機能テスト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Planner, workspace, communities — feature tests (GPU-free)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ツールループ・複数エンティティ展開・記憶・認証をカバー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Tool-loop guard, multi-entity expander, memory, auth all covered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旧経路撤去前に必ずパリティで同一動作を確認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Segoe UI"/>
              </a:rPr>
              <a:t>     Every legacy path retired only after parity confirmed identical behavior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デモの流れ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Suggested walkthrough for tomorrow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6424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75687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75103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通常チャットから資料生成  </a:t>
            </a:r>
            <a:r>
              <a:rPr sz="1050" b="1" i="0">
                <a:solidFill>
                  <a:srgbClr val="14B8A6"/>
                </a:solidFill>
                <a:latin typeface="Segoe UI"/>
              </a:rPr>
              <a:t>/ Plain chat → document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「村田印刷の提案書を作って」→ 能力グラフとダウンロードチップ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“make a proposal for Murata Printing” — no slash command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52343"/>
            <a:ext cx="11064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953511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52927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ローカル・ワークスペース  </a:t>
            </a:r>
            <a:r>
              <a:rPr sz="1050" b="1" i="0">
                <a:solidFill>
                  <a:srgbClr val="14B8A6"/>
                </a:solidFill>
                <a:latin typeface="Segoe UI"/>
              </a:rPr>
              <a:t>/ Local workspace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ファイル検索 → ノート保存 → 整理 → プレビュー → 「実行」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find a file → save a note → organize → preview → “go ahead”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30167"/>
            <a:ext cx="1106424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831335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30751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マネージャーの横断的質問  </a:t>
            </a:r>
            <a:r>
              <a:rPr sz="1050" b="1" i="0">
                <a:solidFill>
                  <a:srgbClr val="14B8A6"/>
                </a:solidFill>
                <a:latin typeface="Segoe UI"/>
              </a:rPr>
              <a:t>/ Manager segment question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「製造業のサーバー案件、なぜ負ける？」→ 引用付き集計回答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aggregate answer with cited deal IDs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07991"/>
            <a:ext cx="11064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70915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08575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Graph-RAG Versus ページ  </a:t>
            </a:r>
            <a:r>
              <a:rPr sz="1050" b="1" i="0">
                <a:solidFill>
                  <a:srgbClr val="14B8A6"/>
                </a:solidFill>
                <a:latin typeface="Segoe UI"/>
              </a:rPr>
              <a:t>/ Graph-RAG Versus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探索を可視化し、従来検索とのスコアカードを提示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walk the traversal, then show the scorecard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85815"/>
            <a:ext cx="1106424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5586983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86399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案件の比較  </a:t>
            </a:r>
            <a:r>
              <a:rPr sz="1050" b="1" i="0">
                <a:solidFill>
                  <a:srgbClr val="14B8A6"/>
                </a:solidFill>
                <a:latin typeface="Segoe UI"/>
              </a:rPr>
              <a:t>/ Compare deals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「D133, D012, D168 を比較」→ 3回の逐次が1回の並列に (75秒→28秒)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7280"/>
                </a:solidFill>
                <a:latin typeface="Segoe UI"/>
              </a:rPr>
              <a:t>3 sequential rounds → 1 parallel round (75s → 28s)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次のステップ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Segoe UI"/>
              </a:rPr>
              <a:t>The next milestone is expansion, not rewrite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20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F2440"/>
                </a:solidFill>
                <a:latin typeface="Yu Gothic"/>
                <a:ea typeface="Yu Gothic"/>
                <a:cs typeface="Yu Gothic"/>
              </a:rPr>
              <a:t>同じスパインの上に、リーゾナーと縮約を加えて長時間タスクへ拡張する。</a:t>
            </a:r>
          </a:p>
          <a:p>
            <a:pPr>
              <a:spcBef>
                <a:spcPts val="200"/>
              </a:spcBef>
            </a:pPr>
            <a:r>
              <a:rPr sz="1030" b="0" i="0">
                <a:solidFill>
                  <a:srgbClr val="6B7280"/>
                </a:solidFill>
                <a:latin typeface="Segoe UI"/>
              </a:rPr>
              <a:t>The same spine plus a real Reasoner pass and a Reducer — no rewrite.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会議準備 / アカウント・インテリジェンスへプランナーを拡張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LLMPlanner for meeting-prep &amp; account-intelligence — “prepare tomorrow’s Endo Kogyo meeting”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チャット横断記憶の読み取り側を接続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Wire cross-chat memory read-side — inject observations into grounding (token-capped)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4つのリーゾナーを reason.py に集約、SSE方言を統一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Deferred simplification — converge reasoners onto reason.py, unify SSE dialects</a:t>
            </a:r>
          </a:p>
          <a:p>
            <a:pPr>
              <a:lnSpc>
                <a:spcPct val="102000"/>
              </a:lnSpc>
              <a:spcBef>
                <a:spcPts val="900"/>
              </a:spcBef>
              <a:spcAft>
                <a:spcPts val="100"/>
              </a:spcAft>
            </a:pPr>
            <a:r>
              <a:rPr sz="1000" b="1" i="0">
                <a:solidFill>
                  <a:srgbClr val="14B8A6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承認ゲート + 外部連携 (メール / カレンダー)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Segoe UI"/>
              </a:rPr>
              <a:t>     Approval Gate + ConnectionProvider — per-user auth for external Email / Calendar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製品から、プラットフォームへ。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5EEAD4"/>
                </a:solidFill>
                <a:latin typeface="Segoe UI"/>
              </a:rPr>
              <a:t>From a product to a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ご清聴ありがとうございました。 質疑応答へ。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Thank you — questions &amp;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Segoe UI"/>
              </a:rPr>
              <a:t>Senpai · AI Department · Phase 2 Week 3 · June 26 – July 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